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4937760"/>
            <a:ext cx="2743200" cy="27432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•  VIRTUAL INTERNSHIP 7.0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8686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CivicPulse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Civic Issue Management Platform Connecting Citizens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Government Departments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Completion Report &amp; Project Review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572000"/>
            <a:ext cx="1042416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97280" y="495604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Shaik Sameer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53218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25  |  Duration: 8 Weeks  |  Start: 29-05-2026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46320" y="4709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0" y="4956048"/>
            <a:ext cx="6217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 Majeed R.  •  Adarsh Kumar Keshari  •  Ayush Chandra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Bevara Akhil  •  Burla Syamala Rao  •  Somveer Dahiya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CivicPulse is, and the problem it solves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pic>
        <p:nvPicPr>
          <p:cNvPr id="5" name="Image 0" descr="/home/claude/civicpulse_ppt/icons_target_02809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783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68680" y="2423160"/>
            <a:ext cx="5394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is a full-stack civic issue management platform designed to connect citizens with government departments — enabling efficient reporting, tracking, and resolution of public complaints.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8680" y="3703320"/>
            <a:ext cx="5394960" cy="0"/>
          </a:xfrm>
          <a:prstGeom prst="line">
            <a:avLst/>
          </a:prstGeom>
          <a:noFill/>
          <a:ln w="12700">
            <a:solidFill>
              <a:srgbClr val="E2EC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840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206240"/>
            <a:ext cx="5394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 often struggle to report civic issues to the right authority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departments lack a unified system to track resolution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3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bridges this gap with a transparent digital workflow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766560" y="1463040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2" name="Text 9"/>
          <p:cNvSpPr/>
          <p:nvPr/>
        </p:nvSpPr>
        <p:spPr>
          <a:xfrm>
            <a:off x="6949440" y="1572768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8412480" y="1572768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Duration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766560" y="2633472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5" name="Text 12"/>
          <p:cNvSpPr/>
          <p:nvPr/>
        </p:nvSpPr>
        <p:spPr>
          <a:xfrm>
            <a:off x="6949440" y="2743200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8412480" y="2743200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766560" y="3803904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18" name="Text 15"/>
          <p:cNvSpPr/>
          <p:nvPr/>
        </p:nvSpPr>
        <p:spPr>
          <a:xfrm>
            <a:off x="6949440" y="3913632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9+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8412480" y="3913632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766560" y="4974336"/>
            <a:ext cx="4846320" cy="1005840"/>
          </a:xfrm>
          <a:prstGeom prst="roundRect">
            <a:avLst>
              <a:gd name="adj" fmla="val 10909"/>
            </a:avLst>
          </a:prstGeom>
          <a:solidFill>
            <a:srgbClr val="0B2545"/>
          </a:solidFill>
          <a:ln/>
        </p:spPr>
      </p:sp>
      <p:sp>
        <p:nvSpPr>
          <p:cNvPr id="21" name="Text 18"/>
          <p:cNvSpPr/>
          <p:nvPr/>
        </p:nvSpPr>
        <p:spPr>
          <a:xfrm>
            <a:off x="6949440" y="5084064"/>
            <a:ext cx="14630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22" name="Text 19"/>
          <p:cNvSpPr/>
          <p:nvPr/>
        </p:nvSpPr>
        <p:spPr>
          <a:xfrm>
            <a:off x="8412480" y="5084064"/>
            <a:ext cx="301752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capabilities built into the CivicPulse platform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642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civicpulse_ppt/icons_user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7876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627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04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registration &amp; login with citizen / officer roles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80560" y="16642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civicpulse_ppt/icons_filetext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04" y="1787652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627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 Filing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480560" y="2304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and manage civic complaints end-to-end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229600" y="166420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civicpulse_ppt/icons_imag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044" y="1787652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15400" y="162763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Evidence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0" y="230428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as supporting evidence for issues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315468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33558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civicpulse_ppt/icons_activity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964" y="3479292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17320" y="3319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Tracking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31520" y="3995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reported issues and live status updates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297680" y="315468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480560" y="33558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civicpulse_ppt/icons_users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4004" y="3479292"/>
            <a:ext cx="320040" cy="32004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319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Management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480560" y="3995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officer &amp; department staff management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8046720" y="315468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229600" y="335584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civicpulse_ppt/icons_refresh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044" y="3479292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15400" y="331927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Flow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229600" y="399592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and resolution tracking workflow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484632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1520" y="50474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6" name="Image 6" descr="/home/claude/civicpulse_ppt/icons_barchart_FFFFFF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4964" y="5170932"/>
            <a:ext cx="320040" cy="3200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17320" y="5010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1400" dirty="0"/>
          </a:p>
        </p:txBody>
      </p:sp>
      <p:sp>
        <p:nvSpPr>
          <p:cNvPr id="38" name="Text 29"/>
          <p:cNvSpPr/>
          <p:nvPr/>
        </p:nvSpPr>
        <p:spPr>
          <a:xfrm>
            <a:off x="731520" y="56875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dashboard for monitoring civic issues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4297680" y="484632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4480560" y="50474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1" name="Image 7" descr="/home/claude/civicpulse_ppt/icons_shield_FFFFFF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4004" y="5170932"/>
            <a:ext cx="320040" cy="32004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5166360" y="5010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REST API</a:t>
            </a:r>
            <a:endParaRPr lang="en-US" sz="1400" dirty="0"/>
          </a:p>
        </p:txBody>
      </p:sp>
      <p:sp>
        <p:nvSpPr>
          <p:cNvPr id="43" name="Text 33"/>
          <p:cNvSpPr/>
          <p:nvPr/>
        </p:nvSpPr>
        <p:spPr>
          <a:xfrm>
            <a:off x="4480560" y="56875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JWT-authenticated REST API for all operations</a:t>
            </a:r>
            <a:endParaRPr lang="en-US" sz="1050" dirty="0"/>
          </a:p>
        </p:txBody>
      </p:sp>
      <p:sp>
        <p:nvSpPr>
          <p:cNvPr id="44" name="Shape 34"/>
          <p:cNvSpPr/>
          <p:nvPr/>
        </p:nvSpPr>
        <p:spPr>
          <a:xfrm>
            <a:off x="8046720" y="4846320"/>
            <a:ext cx="361188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8229600" y="50474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46" name="Image 8" descr="/home/claude/civicpulse_ppt/icons_database_FFFFFF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3044" y="5170932"/>
            <a:ext cx="320040" cy="320040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15400" y="5010912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400" dirty="0"/>
          </a:p>
        </p:txBody>
      </p:sp>
      <p:sp>
        <p:nvSpPr>
          <p:cNvPr id="48" name="Text 37"/>
          <p:cNvSpPr/>
          <p:nvPr/>
        </p:nvSpPr>
        <p:spPr>
          <a:xfrm>
            <a:off x="8229600" y="5687568"/>
            <a:ext cx="3246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relational database integration</a:t>
            </a:r>
            <a:endParaRPr lang="en-US" sz="1050" dirty="0"/>
          </a:p>
        </p:txBody>
      </p:sp>
      <p:sp>
        <p:nvSpPr>
          <p:cNvPr id="49" name="Text 3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citizen's request flows through the CivicPulse stack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68096" y="2377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/home/claude/civicpulse_ppt/icons_userchec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1036" y="2578608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642616" y="3063240"/>
            <a:ext cx="3200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2962656" y="2377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/home/claude/civicpulse_ppt/icons_code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596" y="2578608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00837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837176" y="3063240"/>
            <a:ext cx="3200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5157216" y="2377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/home/claude/civicpulse_ppt/icons_shield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0156" y="2578608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0293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7031736" y="3063240"/>
            <a:ext cx="3200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351776" y="2377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00A896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/home/claude/civicpulse_ppt/icons_layers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4716" y="257860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39749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Backend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9226296" y="3063240"/>
            <a:ext cx="320040" cy="0"/>
          </a:xfrm>
          <a:prstGeom prst="line">
            <a:avLst/>
          </a:prstGeom>
          <a:noFill/>
          <a:ln w="31750">
            <a:solidFill>
              <a:srgbClr val="02C39A"/>
            </a:solidFill>
            <a:prstDash val="solid"/>
            <a:tailEnd type="triangle"/>
          </a:ln>
        </p:spPr>
      </p:sp>
      <p:sp>
        <p:nvSpPr>
          <p:cNvPr id="20" name="Shape 14"/>
          <p:cNvSpPr/>
          <p:nvPr/>
        </p:nvSpPr>
        <p:spPr>
          <a:xfrm>
            <a:off x="9546336" y="237744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028090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21" name="Image 4" descr="/home/claude/civicpulse_ppt/icons_database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9276" y="2578608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592056" y="32004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DB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188720" y="42062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citizen registers or logs in, submits a complaint with details and photos, and tracks its progress. Government officers and department staff access complaints, update status, and manage the resolution process end-to-end.</a:t>
            </a:r>
            <a:endParaRPr lang="en-US" sz="1400" dirty="0"/>
          </a:p>
        </p:txBody>
      </p:sp>
      <p:sp>
        <p:nvSpPr>
          <p:cNvPr id="24" name="Shape 17"/>
          <p:cNvSpPr/>
          <p:nvPr/>
        </p:nvSpPr>
        <p:spPr>
          <a:xfrm>
            <a:off x="1737360" y="5212080"/>
            <a:ext cx="8686800" cy="960120"/>
          </a:xfrm>
          <a:prstGeom prst="roundRect">
            <a:avLst>
              <a:gd name="adj" fmla="val 9524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00A896"/>
            </a:solidFill>
            <a:prstDash val="solid"/>
          </a:ln>
        </p:spPr>
      </p:sp>
      <p:pic>
        <p:nvPicPr>
          <p:cNvPr id="25" name="Image 5" descr="/home/claude/civicpulse_ppt/icons_cloud_02C39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65960" y="5413248"/>
            <a:ext cx="502920" cy="5029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2606040" y="5212080"/>
            <a:ext cx="76352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with Docker and deployed to cloud infrastructure (AWS / Azure) behind a load balancer, connecting frontend, backend API, and PostgreSQL.</a:t>
            </a: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 &amp; Milestones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weeks from kickoff to final presentation — all milestones completed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3017520"/>
            <a:ext cx="10149840" cy="0"/>
          </a:xfrm>
          <a:prstGeom prst="line">
            <a:avLst/>
          </a:prstGeom>
          <a:noFill/>
          <a:ln w="381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2697480"/>
            <a:ext cx="0" cy="320040"/>
          </a:xfrm>
          <a:prstGeom prst="line">
            <a:avLst/>
          </a:prstGeom>
          <a:noFill/>
          <a:ln w="12700">
            <a:solidFill>
              <a:srgbClr val="B7CFC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65760" y="1325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29-05-26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17099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objectives, and architecture defined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1528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3300" y="3017520"/>
            <a:ext cx="0" cy="320040"/>
          </a:xfrm>
          <a:prstGeom prst="line">
            <a:avLst/>
          </a:prstGeom>
          <a:noFill/>
          <a:ln w="12700">
            <a:solidFill>
              <a:srgbClr val="B7CFC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537460" y="3337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74620" y="3429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14-07-26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74620" y="37216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First Draft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67462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structure, backend &amp; DB setup, initial API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5274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697480"/>
            <a:ext cx="0" cy="320040"/>
          </a:xfrm>
          <a:prstGeom prst="line">
            <a:avLst/>
          </a:prstGeom>
          <a:noFill/>
          <a:ln w="12700">
            <a:solidFill>
              <a:srgbClr val="B7CFCB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5074920" y="1325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1208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27-07-26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12080" y="17099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Mid-Term Review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demo, feedback on implemented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49020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18220" y="3017520"/>
            <a:ext cx="0" cy="320040"/>
          </a:xfrm>
          <a:prstGeom prst="line">
            <a:avLst/>
          </a:prstGeom>
          <a:noFill/>
          <a:ln w="12700">
            <a:solidFill>
              <a:srgbClr val="B7CFCB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612380" y="333756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749540" y="3429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10-08-26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49540" y="372160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Submission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749540" y="416052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integration, testing, and issue resolution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027664" y="2889504"/>
            <a:ext cx="256032" cy="256032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155680" y="2697480"/>
            <a:ext cx="0" cy="320040"/>
          </a:xfrm>
          <a:prstGeom prst="line">
            <a:avLst/>
          </a:prstGeom>
          <a:noFill/>
          <a:ln w="12700">
            <a:solidFill>
              <a:srgbClr val="B7CFCB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811512" y="132588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9948672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17-08-26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948672" y="17099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948672" y="2148840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walkthrough of features &amp; outcomes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5074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Week-by-Week Build-Up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48640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76072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45386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40" name="Text 38"/>
          <p:cNvSpPr/>
          <p:nvPr/>
        </p:nvSpPr>
        <p:spPr>
          <a:xfrm>
            <a:off x="1945386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972818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&amp; DB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342132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43" name="Text 41"/>
          <p:cNvSpPr/>
          <p:nvPr/>
        </p:nvSpPr>
        <p:spPr>
          <a:xfrm>
            <a:off x="3342132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369564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38878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46" name="Text 44"/>
          <p:cNvSpPr/>
          <p:nvPr/>
        </p:nvSpPr>
        <p:spPr>
          <a:xfrm>
            <a:off x="4738878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66310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Exercise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35624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49" name="Text 47"/>
          <p:cNvSpPr/>
          <p:nvPr/>
        </p:nvSpPr>
        <p:spPr>
          <a:xfrm>
            <a:off x="6135624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163056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532370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52" name="Text 50"/>
          <p:cNvSpPr/>
          <p:nvPr/>
        </p:nvSpPr>
        <p:spPr>
          <a:xfrm>
            <a:off x="7532370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7559802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8929116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DCEEEC"/>
          </a:solidFill>
          <a:ln/>
        </p:spPr>
      </p:sp>
      <p:sp>
        <p:nvSpPr>
          <p:cNvPr id="55" name="Text 53"/>
          <p:cNvSpPr/>
          <p:nvPr/>
        </p:nvSpPr>
        <p:spPr>
          <a:xfrm>
            <a:off x="8929116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956548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325862" y="5394960"/>
            <a:ext cx="1287018" cy="566928"/>
          </a:xfrm>
          <a:prstGeom prst="roundRect">
            <a:avLst>
              <a:gd name="adj" fmla="val 9677"/>
            </a:avLst>
          </a:prstGeom>
          <a:solidFill>
            <a:srgbClr val="0B2545"/>
          </a:solidFill>
          <a:ln/>
        </p:spPr>
      </p:sp>
      <p:sp>
        <p:nvSpPr>
          <p:cNvPr id="58" name="Text 56"/>
          <p:cNvSpPr/>
          <p:nvPr/>
        </p:nvSpPr>
        <p:spPr>
          <a:xfrm>
            <a:off x="10325862" y="5431536"/>
            <a:ext cx="128701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10353294" y="5614416"/>
            <a:ext cx="1232154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CivicPulse-Nexus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hurdles solved during development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581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0" descr="/home/claude/civicpulse_ppt/icons_cod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682496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54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Integration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31520" y="213055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React with REST APIs required careful endpoint design, request handling &amp; error handling — resolved via a structured API layer and independent endpoint testing.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civicpulse_ppt/icons_shield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1682496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40880" y="155448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Authorization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46520" y="213055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JWT-based login and role-based access needed careful token handling — mitigated with auth middleware and secure session state management.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548640" y="310896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13232" y="32735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6" name="Image 2" descr="/home/claude/civicpulse_ppt/icons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337413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2461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731520" y="382219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relationships &amp; CRUD operations in PostgreSQL was resolved through proper schema configuration, entity design, and API testing.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263640" y="310896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327355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1" name="Image 3" descr="/home/claude/civicpulse_ppt/icons_imag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3374136"/>
            <a:ext cx="256032" cy="2560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040880" y="324612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Uploads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46520" y="382219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Multi-image complaint submissions required multipart form handling — addressed with dedicated upload middleware tied to the complaint API.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8006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713232" y="49651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6" name="Image 4" descr="/home/claude/civicpulse_ppt/icons_gitbran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5065776"/>
            <a:ext cx="256032" cy="2560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937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Collaboration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731520" y="551383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Branching, merging, and conflict resolution across the team were resolved by adopting clear Git workflows and regular syncs.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63640" y="4800600"/>
            <a:ext cx="5394960" cy="1508760"/>
          </a:xfrm>
          <a:prstGeom prst="roundRect">
            <a:avLst>
              <a:gd name="adj" fmla="val 6061"/>
            </a:avLst>
          </a:prstGeom>
          <a:solidFill>
            <a:srgbClr val="F4FAF9"/>
          </a:solidFill>
          <a:ln w="12700">
            <a:solidFill>
              <a:srgbClr val="E2ECEB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28232" y="4965192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1" name="Image 5" descr="/home/claude/civicpulse_ppt/icons_clou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8816" y="506577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493776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Config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446520" y="5513832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environment variables across environments was solved by separating dev/production configs cleanly.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Learnings &amp; Skills Acquired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exposure to the full-stack development lifecycle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309360" cy="4663440"/>
          </a:xfrm>
          <a:prstGeom prst="roundRect">
            <a:avLst>
              <a:gd name="adj" fmla="val 2353"/>
            </a:avLst>
          </a:prstGeom>
          <a:solidFill>
            <a:srgbClr val="12345A"/>
          </a:solidFill>
          <a:ln/>
        </p:spPr>
      </p:sp>
      <p:pic>
        <p:nvPicPr>
          <p:cNvPr id="5" name="Image 0" descr="/home/claude/civicpulse_ppt/icons_code_02C3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Skills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240280"/>
            <a:ext cx="2880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&amp; Vite frontend development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&amp; Spring Boot backend development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development and integration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database management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and authorization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31920" y="2240280"/>
            <a:ext cx="288036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&amp; DB interaction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 version control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 concepts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/ Azure)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✦"/>
            </a:pPr>
            <a:r>
              <a:rPr lang="en-US" sz="1200" dirty="0">
                <a:solidFill>
                  <a:srgbClr val="E7F3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 and debugging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132320" y="1463040"/>
            <a:ext cx="4526280" cy="4663440"/>
          </a:xfrm>
          <a:prstGeom prst="roundRect">
            <a:avLst>
              <a:gd name="adj" fmla="val 2424"/>
            </a:avLst>
          </a:prstGeom>
          <a:solidFill>
            <a:srgbClr val="028090"/>
          </a:solidFill>
          <a:ln/>
        </p:spPr>
      </p:sp>
      <p:pic>
        <p:nvPicPr>
          <p:cNvPr id="10" name="Image 1" descr="/home/claude/civicpulse_ppt/icons_us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916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09560" y="16916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Skills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452360" y="2286000"/>
            <a:ext cx="40233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and debugging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requirement analysis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management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planning and prioritization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Git-based development workflows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▸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development practices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Success Points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team delivered by the end of the internship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88820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6" name="Image 0" descr="/home/claude/civicpulse_ppt/icons_checkcircle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5124" y="188366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CivicPulse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7724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contributed to the full CivicPulse platform build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37860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1" name="Image 1" descr="/home/claude/civicpulse_ppt/icons_layers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4164" y="188366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484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Integration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and integrated frontend and backend components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046720" y="150876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86900" y="173736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6" name="Image 2" descr="/home/claude/civicpulse_ppt/icons_databas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204" y="18836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3880" y="256032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92608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with PostgreSQL for reliable, persistent data storage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988820" y="4069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3" descr="/home/claude/civicpulse_ppt/icons_shiel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5124" y="421538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8580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Secured the API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77240" y="52578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authentication and protected API functionality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737860" y="4069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6" name="Image 4" descr="/home/claude/civicpulse_ppt/icons_gitbranch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4164" y="421538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43484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52578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Git and GitHub for disciplined project version control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61188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63500" dist="25400" dir="5400000">
              <a:srgbClr val="888888">
                <a:alpha val="2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486900" y="406908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1" name="Image 5" descr="/home/claude/civicpulse_ppt/icons_cloud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33204" y="4215384"/>
            <a:ext cx="438912" cy="43891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183880" y="48920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Ready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25780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experience with deployment &amp; cloud technologies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3657600" cy="3657600"/>
          </a:xfrm>
          <a:prstGeom prst="ellipse">
            <a:avLst/>
          </a:prstGeom>
          <a:solidFill>
            <a:srgbClr val="028090">
              <a:alpha val="2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389120"/>
            <a:ext cx="3108960" cy="310896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5486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was a valuable, hands-on journey through the complete software development lifecycle — from requirements and architecture to a deployed, working platform.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2345A"/>
          </a:solidFill>
          <a:ln/>
        </p:spPr>
      </p:sp>
      <p:sp>
        <p:nvSpPr>
          <p:cNvPr id="7" name="Shape 5"/>
          <p:cNvSpPr/>
          <p:nvPr/>
        </p:nvSpPr>
        <p:spPr>
          <a:xfrm>
            <a:off x="96012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8" name="Image 0" descr="/home/claude/civicpulse_ppt/icons_award_0B254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688336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Growth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frontend, backend, database, API, and deployment skills through real project work.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8912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2345A"/>
          </a:solidFill>
          <a:ln/>
        </p:spPr>
      </p:sp>
      <p:sp>
        <p:nvSpPr>
          <p:cNvPr id="12" name="Shape 9"/>
          <p:cNvSpPr/>
          <p:nvPr/>
        </p:nvSpPr>
        <p:spPr>
          <a:xfrm>
            <a:off x="461772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3" name="Image 1" descr="/home/claude/civicpulse_ppt/icons_target_0B2545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736" y="2688336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6177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Bridging Theory &amp; Practice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61772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academic B.Tech foundations with industry-oriented, production-style development.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2331720"/>
            <a:ext cx="3383280" cy="2286000"/>
          </a:xfrm>
          <a:prstGeom prst="roundRect">
            <a:avLst>
              <a:gd name="adj" fmla="val 4800"/>
            </a:avLst>
          </a:prstGeom>
          <a:solidFill>
            <a:srgbClr val="12345A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2560320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2" descr="/home/claude/civicpulse_ppt/icons_box_0B254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68833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75320" y="3246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Future-Ready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8275320" y="36118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CFE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strong foundation for future academic projects and a career in software engineering.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731520" y="5029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731520" y="5532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Team  •  Batch 25  •  Infosys Springboard Virtual Internship 7.0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CivicPulse  |  Infosys Springboard Virtual Internship 7.0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2026-08-27T03:39:00Z</dcterms:created>
  <dcterms:modified xsi:type="dcterms:W3CDTF">2026-08-27T03:39:00Z</dcterms:modified>
</cp:coreProperties>
</file>